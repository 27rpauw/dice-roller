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3" d="100"/>
          <a:sy n="73" d="100"/>
        </p:scale>
        <p:origin x="2163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7957-CC0A-E145-96A9-32F424E39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F9D58-19F0-40BB-4040-BC61BF257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63261-D7EC-2D96-F1F1-8CAA8D09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8E079-C70E-765A-C3BC-0510A41AF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2F3FC-5640-D544-AA3D-87A93029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19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9952-2B14-AFE6-AD77-437E0BA3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68621-773B-9214-09B2-287A3BC3B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D85D4-4927-CD58-1258-C4C01CF1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BF094-BEFD-2A6E-DD6E-8D404F756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64E46-C2AC-A954-80BF-B36952D2A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8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3DC6-245E-F8D8-8FD7-930FCC49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9E223-7DEF-AEBA-6597-79DC1E8D6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407DF-CC3E-ED07-31F7-62319A12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45C19-7A03-3FCD-75AD-F62B5DB4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F4C57-00FA-78E5-31CD-35864D42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69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D30BC-2742-A99E-D2A3-F813D8D9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5020E-15FE-985F-2456-FF806CE78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0E70-AAAA-3EFC-2443-1B8E155F9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55D59-1DF9-A889-DF4F-4299AE94F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475ED-FD80-45F4-97C7-F2A013A0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0E81A-C073-49A9-B206-D213E4D5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629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D3DBC-A4C1-D6CB-FBD4-434298F7A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A79D6-5211-5409-8722-50557FC2A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6A0EF-0D1A-AB95-EEFD-9D843DC98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49A6B-FA10-2B95-B8A8-13C49C5245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023D3-5FA6-8D0D-BE57-7B7BBECDF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54B7DC-9FBA-9ADB-D4BD-2EE9E657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28C04-B87C-D7A1-CE43-3A609420C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D52FD-3A85-E090-4CAD-5A4C91D5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96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31E06-D296-3A5C-90FA-27AC6E6A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47E4D-3F76-7641-C186-B0BF50CD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6C2D7-A00C-5E3D-C570-479B88DB0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8973F-BB69-6A28-233D-0C9A3B46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26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88E006-7ABA-3412-4F87-60C19DB0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E434D-988E-1553-EC04-9B1DEA304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54093-73E4-15F8-3F3F-58A859A63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96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F2EC-2621-B0D3-5A09-D30097C83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8CBE1-2E9A-6D3D-2437-9E03D2C9B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AD124-2DDA-26B3-1BC4-4CC7255DA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DE895-7723-C614-E1E8-76EF86F92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E05B6-D112-3AE5-46C4-39F507FAB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3F1D7-6EF0-1088-23FA-734F344AB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323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5695E-3EF3-6FA0-C37E-57F687A79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72F4A-DC9E-639B-F736-7C1A5DFDD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CC949-B441-016F-0DAC-78C35F29E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7DCAA-2162-65E2-A04B-EA34E77D9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9D09E-84A4-7EBD-07A6-77EB4A616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71F5-A4FA-89A5-A659-F8542D48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307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617A5-1DE9-0F45-D5C2-0A0BEF29F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FCA84-7066-6414-483F-F9F250930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98E31-0B42-ED7C-9C48-791A2FA74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300CD-01FD-6942-68C7-37F32A219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5E3AB-810C-43B0-07EF-8B0986A3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94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C57D77-58A7-E47F-E703-2CABC8174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6B373-B1BE-D4DE-5476-6871D872D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42C72-361A-B2F4-5A96-9757BD217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17803-7D42-9F3B-11F2-43BB575A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B4A5F-898F-FDB1-29FC-FA6ABF4E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98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A46882-C8DE-369D-57EE-78131B51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A76EE-AAC0-4B07-1F7D-CCC0437CB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13EF2-2DE0-F3E0-37A5-0CBF2FFAF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223DF-B670-41D7-8097-E38B034108B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1324F-17B3-1DA5-CDB3-94B80716F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ABDF5-F73A-4082-6768-CE6F8DB37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A032A7-CE03-4932-B78F-569CA2E1E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26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xagon 4">
            <a:extLst>
              <a:ext uri="{FF2B5EF4-FFF2-40B4-BE49-F238E27FC236}">
                <a16:creationId xmlns:a16="http://schemas.microsoft.com/office/drawing/2014/main" id="{AB801BC2-ECE7-2735-4C76-B67A8ACCEAFA}"/>
              </a:ext>
            </a:extLst>
          </p:cNvPr>
          <p:cNvSpPr/>
          <p:nvPr/>
        </p:nvSpPr>
        <p:spPr>
          <a:xfrm rot="1616575">
            <a:off x="6318214" y="1762863"/>
            <a:ext cx="1558977" cy="1424066"/>
          </a:xfrm>
          <a:prstGeom prst="hexagon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0C99A7BE-1692-4C2F-8661-B338EC589924}"/>
              </a:ext>
            </a:extLst>
          </p:cNvPr>
          <p:cNvSpPr/>
          <p:nvPr/>
        </p:nvSpPr>
        <p:spPr>
          <a:xfrm rot="20010185">
            <a:off x="4210600" y="1759935"/>
            <a:ext cx="1558977" cy="1424066"/>
          </a:xfrm>
          <a:prstGeom prst="hexagon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CBCBE231-1492-D647-9E46-57F76C44975F}"/>
              </a:ext>
            </a:extLst>
          </p:cNvPr>
          <p:cNvSpPr/>
          <p:nvPr/>
        </p:nvSpPr>
        <p:spPr>
          <a:xfrm rot="1575766">
            <a:off x="6992067" y="3200591"/>
            <a:ext cx="1558977" cy="1424066"/>
          </a:xfrm>
          <a:prstGeom prst="hexagon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50E22273-00C1-C4D7-BDF7-B71AC14F71C7}"/>
              </a:ext>
            </a:extLst>
          </p:cNvPr>
          <p:cNvSpPr/>
          <p:nvPr/>
        </p:nvSpPr>
        <p:spPr>
          <a:xfrm rot="20002098">
            <a:off x="3414389" y="3187618"/>
            <a:ext cx="1558977" cy="1424066"/>
          </a:xfrm>
          <a:prstGeom prst="hexagon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7A0F5B7F-647E-54A1-0B9C-4EEAB950CF94}"/>
              </a:ext>
            </a:extLst>
          </p:cNvPr>
          <p:cNvSpPr/>
          <p:nvPr/>
        </p:nvSpPr>
        <p:spPr>
          <a:xfrm rot="1649298">
            <a:off x="6320848" y="4648503"/>
            <a:ext cx="1558977" cy="1424066"/>
          </a:xfrm>
          <a:prstGeom prst="hexagon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944D2E60-806B-6427-9FEB-4B967CBF319D}"/>
              </a:ext>
            </a:extLst>
          </p:cNvPr>
          <p:cNvSpPr/>
          <p:nvPr/>
        </p:nvSpPr>
        <p:spPr>
          <a:xfrm rot="20001040">
            <a:off x="4211366" y="4653922"/>
            <a:ext cx="1558977" cy="1424066"/>
          </a:xfrm>
          <a:prstGeom prst="hexagon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8E997D-2138-0457-2F70-8BE513891C97}"/>
              </a:ext>
            </a:extLst>
          </p:cNvPr>
          <p:cNvSpPr txBox="1"/>
          <p:nvPr/>
        </p:nvSpPr>
        <p:spPr>
          <a:xfrm>
            <a:off x="3620124" y="784052"/>
            <a:ext cx="2271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Stability Guardrails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61D31-099F-E632-5511-CA8E1B7C3D9E}"/>
              </a:ext>
            </a:extLst>
          </p:cNvPr>
          <p:cNvSpPr txBox="1"/>
          <p:nvPr/>
        </p:nvSpPr>
        <p:spPr>
          <a:xfrm>
            <a:off x="6556504" y="794479"/>
            <a:ext cx="166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Growth Engine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DA3C53-DC51-7942-2FD6-139DF801EDF7}"/>
              </a:ext>
            </a:extLst>
          </p:cNvPr>
          <p:cNvSpPr txBox="1"/>
          <p:nvPr/>
        </p:nvSpPr>
        <p:spPr>
          <a:xfrm>
            <a:off x="6457007" y="2199634"/>
            <a:ext cx="1360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Core Efficiency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947151-9F4F-1D3B-6730-9A94774D867A}"/>
              </a:ext>
            </a:extLst>
          </p:cNvPr>
          <p:cNvSpPr txBox="1"/>
          <p:nvPr/>
        </p:nvSpPr>
        <p:spPr>
          <a:xfrm>
            <a:off x="7056797" y="3645013"/>
            <a:ext cx="1360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Top Line Growth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CF1BD8-7807-9C85-6FE8-8BC6813A71B5}"/>
              </a:ext>
            </a:extLst>
          </p:cNvPr>
          <p:cNvSpPr txBox="1"/>
          <p:nvPr/>
        </p:nvSpPr>
        <p:spPr>
          <a:xfrm>
            <a:off x="6413025" y="5187603"/>
            <a:ext cx="1360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New Business Ventures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B0474F-2CAA-BFCD-5F60-28EA33A22054}"/>
              </a:ext>
            </a:extLst>
          </p:cNvPr>
          <p:cNvSpPr txBox="1"/>
          <p:nvPr/>
        </p:nvSpPr>
        <p:spPr>
          <a:xfrm>
            <a:off x="3460876" y="3657351"/>
            <a:ext cx="1360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Strategic Discipline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3912EE-4017-0865-94B7-74D6719F95DA}"/>
              </a:ext>
            </a:extLst>
          </p:cNvPr>
          <p:cNvSpPr txBox="1"/>
          <p:nvPr/>
        </p:nvSpPr>
        <p:spPr>
          <a:xfrm>
            <a:off x="4298423" y="5041328"/>
            <a:ext cx="1360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Ethical Stewardship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391AF0-1207-D36D-3F88-A3A4DA97D55B}"/>
              </a:ext>
            </a:extLst>
          </p:cNvPr>
          <p:cNvSpPr txBox="1"/>
          <p:nvPr/>
        </p:nvSpPr>
        <p:spPr>
          <a:xfrm>
            <a:off x="4298422" y="2161775"/>
            <a:ext cx="1360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Operational Integrity</a:t>
            </a: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1C19D450-4063-81A0-F952-BBC51E944A2F}"/>
              </a:ext>
            </a:extLst>
          </p:cNvPr>
          <p:cNvSpPr/>
          <p:nvPr/>
        </p:nvSpPr>
        <p:spPr>
          <a:xfrm rot="1604240">
            <a:off x="5248243" y="3199839"/>
            <a:ext cx="1558977" cy="1424066"/>
          </a:xfrm>
          <a:prstGeom prst="hexag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A8CD51-22D2-4EE1-4777-20A83D36B6BB}"/>
              </a:ext>
            </a:extLst>
          </p:cNvPr>
          <p:cNvSpPr txBox="1"/>
          <p:nvPr/>
        </p:nvSpPr>
        <p:spPr>
          <a:xfrm>
            <a:off x="5349458" y="3684120"/>
            <a:ext cx="1360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Transformation Architecture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D85BA5-D5EA-2563-D707-0911BF3A30A3}"/>
              </a:ext>
            </a:extLst>
          </p:cNvPr>
          <p:cNvSpPr/>
          <p:nvPr/>
        </p:nvSpPr>
        <p:spPr>
          <a:xfrm>
            <a:off x="9556174" y="1618938"/>
            <a:ext cx="1648918" cy="888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Business Value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1E27432-89BC-3785-080B-5E82D72B1438}"/>
              </a:ext>
            </a:extLst>
          </p:cNvPr>
          <p:cNvSpPr/>
          <p:nvPr/>
        </p:nvSpPr>
        <p:spPr>
          <a:xfrm>
            <a:off x="9556174" y="5104776"/>
            <a:ext cx="1648918" cy="888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Institutional Agility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2CA5512-7D7C-344F-631B-B1FCDEE1585A}"/>
              </a:ext>
            </a:extLst>
          </p:cNvPr>
          <p:cNvSpPr/>
          <p:nvPr/>
        </p:nvSpPr>
        <p:spPr>
          <a:xfrm>
            <a:off x="9556174" y="3361857"/>
            <a:ext cx="1648918" cy="888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Strategic Moats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BA34A0-8DA4-79CF-93C1-BE246D07D3EC}"/>
              </a:ext>
            </a:extLst>
          </p:cNvPr>
          <p:cNvSpPr/>
          <p:nvPr/>
        </p:nvSpPr>
        <p:spPr>
          <a:xfrm>
            <a:off x="917791" y="1618938"/>
            <a:ext cx="1648918" cy="888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Market Context &amp; Ambition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6A8F029-8F17-AE33-0C7E-D963DF6A8C50}"/>
              </a:ext>
            </a:extLst>
          </p:cNvPr>
          <p:cNvSpPr/>
          <p:nvPr/>
        </p:nvSpPr>
        <p:spPr>
          <a:xfrm>
            <a:off x="917791" y="5104776"/>
            <a:ext cx="1648918" cy="888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Technology estate &amp; capabilities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E2C900-E476-965C-A60C-32206343CA96}"/>
              </a:ext>
            </a:extLst>
          </p:cNvPr>
          <p:cNvSpPr/>
          <p:nvPr/>
        </p:nvSpPr>
        <p:spPr>
          <a:xfrm>
            <a:off x="917791" y="3361857"/>
            <a:ext cx="1648918" cy="888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Strategy &amp; operating plan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E4F8CB-75E6-03E5-A122-B821E6DB2717}"/>
              </a:ext>
            </a:extLst>
          </p:cNvPr>
          <p:cNvSpPr txBox="1"/>
          <p:nvPr/>
        </p:nvSpPr>
        <p:spPr>
          <a:xfrm>
            <a:off x="9471058" y="794479"/>
            <a:ext cx="1833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Outputs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049DF6-FCED-DA15-36F9-69D05B8BA841}"/>
              </a:ext>
            </a:extLst>
          </p:cNvPr>
          <p:cNvSpPr txBox="1"/>
          <p:nvPr/>
        </p:nvSpPr>
        <p:spPr>
          <a:xfrm>
            <a:off x="887755" y="794479"/>
            <a:ext cx="1578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Inputs</a:t>
            </a:r>
          </a:p>
        </p:txBody>
      </p:sp>
    </p:spTree>
    <p:extLst>
      <p:ext uri="{BB962C8B-B14F-4D97-AF65-F5344CB8AC3E}">
        <p14:creationId xmlns:p14="http://schemas.microsoft.com/office/powerpoint/2010/main" val="2161200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Willmott</dc:creator>
  <cp:lastModifiedBy>Paul Willmott</cp:lastModifiedBy>
  <cp:revision>1</cp:revision>
  <dcterms:created xsi:type="dcterms:W3CDTF">2026-03-01T14:19:51Z</dcterms:created>
  <dcterms:modified xsi:type="dcterms:W3CDTF">2026-03-01T14:44:57Z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2026-03-01T14:44:36Z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4e35eac2-01f6-4d4b-b2e5-1e00b3644e5f</vt:lpwstr>
  </property>
  <property fmtid="{D5CDD505-2E9C-101B-9397-08002B2CF9AE}" pid="7" name="MSIP_Label_defa4170-0d19-0005-0004-bc88714345d2_ActionId">
    <vt:lpwstr>cb1e7481-132b-4978-8ed5-4495073ddf1c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